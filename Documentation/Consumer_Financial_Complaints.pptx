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8C59B8-330B-4108-9B22-9740D6B751F6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BEF7E-5548-4362-992E-614A2C8E6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888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BEF7E-5548-4362-992E-614A2C8E64C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284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371600"/>
            <a:ext cx="91440" cy="210312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280160"/>
            <a:ext cx="100584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FinGrievance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987552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CFE8E4"/>
                </a:solidFill>
                <a:latin typeface="Calibri"/>
              </a:rPr>
              <a:t>Root-Cause Mining and Resolution Outcome Prediction from Consumer Complaint Narratives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931920"/>
            <a:ext cx="51206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9F8E"/>
                </a:solidFill>
                <a:latin typeface="Calibri"/>
              </a:rPr>
              <a:t>INDUSTRY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US Consumer Credit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3931920"/>
            <a:ext cx="51206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9F8E"/>
                </a:solidFill>
                <a:latin typeface="Calibri"/>
              </a:rPr>
              <a:t>STUDENT NAME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Sivasuriyan Velmurugan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663440"/>
            <a:ext cx="51206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9F8E"/>
                </a:solidFill>
                <a:latin typeface="Calibri"/>
              </a:rPr>
              <a:t>STUDENT ID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AF05312120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4663440"/>
            <a:ext cx="51206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9F8E"/>
                </a:solidFill>
                <a:latin typeface="Calibri"/>
              </a:rPr>
              <a:t>COURSE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AIML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394960"/>
            <a:ext cx="51206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9F8E"/>
                </a:solidFill>
                <a:latin typeface="Calibri"/>
              </a:rPr>
              <a:t>BATCH CODE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ANPD7444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5394960"/>
            <a:ext cx="51206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9F8E"/>
                </a:solidFill>
                <a:latin typeface="Calibri"/>
              </a:rPr>
              <a:t>ORGANIZATION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Anudip Foundation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Industry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FinGrievance Intelligence  |  Sivasuriyan Velmurugan  |  Anudip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657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28016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5204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Selected Industry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3291840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US consumer credit cards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Retail banking and consumer lending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Companies in focus: Capital One, JPMorgan Chase, Bank of America, Wells Fargo, Citi, Synchrony, 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3200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74519"/>
            <a:ext cx="3200400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Card issuers receive thousands of consumer complaints every month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Most are free-text narratives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Filed under broad Issue labels such as “Fees or interest”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417320"/>
            <a:ext cx="3200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Why Data Analysis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874519"/>
            <a:ext cx="3200400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Labels show where a complaint belongs, not why it happened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Reveals patterns by company, issue, product and state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New problems appear in narratives before category counts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FinGrievance Intelligence  |  Sivasuriyan Velmurugan  |  Anudip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611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611880" cy="73152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3246120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Issue labels hide root causes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One label covers unauthorized charges, merchant disputes, rewards errors, interest surprises or closed accounts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Same root cause can end in monetary relief, non-monetary relief or only an explanation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3611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280160"/>
            <a:ext cx="3611880" cy="73152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46304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Why It Is Important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65960"/>
            <a:ext cx="3246120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No evidence-based way to check outcome consistency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New problems such as fraud patterns or app changes are detected late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611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611880" cy="73152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Who Is Affected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65960"/>
            <a:ext cx="3246120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Consumers filing complaints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Credit card issuers handling them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Analysts reviewing complaint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FinGrievance Intelligence  |  Sivasuriyan Velmurugan  |  Anudip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85800" y="1426463"/>
            <a:ext cx="548640" cy="54864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26463"/>
            <a:ext cx="5486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280160"/>
            <a:ext cx="1005840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B38"/>
                </a:solidFill>
                <a:latin typeface="Calibri"/>
              </a:rPr>
              <a:t>Clean and structure the CFPB credit card complaint data (current phase)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58568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5800" y="2404872"/>
            <a:ext cx="548640" cy="54864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404872"/>
            <a:ext cx="5486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258568"/>
            <a:ext cx="1005840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B38"/>
                </a:solidFill>
                <a:latin typeface="Calibri"/>
              </a:rPr>
              <a:t>Discover root-cause themes with embedding-based topic modeling and track them over time (planned)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36976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5800" y="3383280"/>
            <a:ext cx="548640" cy="54864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383280"/>
            <a:ext cx="5486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236976"/>
            <a:ext cx="1005840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B38"/>
                </a:solidFill>
                <a:latin typeface="Calibri"/>
              </a:rPr>
              <a:t>Predict the expected relief probability of each complaint using a time-based split (planned)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15383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85800" y="4361688"/>
            <a:ext cx="548640" cy="54864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361688"/>
            <a:ext cx="5486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15383"/>
            <a:ext cx="1005840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B38"/>
                </a:solidFill>
                <a:latin typeface="Calibri"/>
              </a:rPr>
              <a:t>Compute a company-level Relief Gap Score: observed minus expected relief (planned)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193792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5800" y="5340096"/>
            <a:ext cx="548640" cy="548640"/>
          </a:xfrm>
          <a:prstGeom prst="ellipse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340096"/>
            <a:ext cx="5486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193792"/>
            <a:ext cx="1005840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B38"/>
                </a:solidFill>
                <a:latin typeface="Calibri"/>
              </a:rPr>
              <a:t>Explain predictions with SHAP and present results in a dashboard (planned)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Proposed Solution &amp; Analysis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FinGrievance Intelligence  |  Sivasuriyan Velmurugan  |  Anudip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0" y="1280160"/>
            <a:ext cx="5715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4846320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End-to-end NLP system on credit card complaints in the CFPB database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Python (Pandas, NumPy, Matplotlib, Seaborn) cleans the data and summarizes complaints by company, issue, product and state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Later phases: topic modeling, outcome prediction and the Relief Gap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417320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Analysis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74519"/>
            <a:ext cx="5394960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Which columns have missing values?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Which companies receive the most complaints?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What are the top issues and sub-issues?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Which financial products and states have the highest complaint volume?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How do resolution outcomes and timely response differ by product?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Which product has the longest average response time?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Dataset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FinGrievance Intelligence  |  Sivasuriyan Velmurugan  |  Anudip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64008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828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E9F8E"/>
                </a:solidFill>
                <a:latin typeface="Calibri"/>
              </a:rPr>
              <a:t>Dataset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371600"/>
            <a:ext cx="42976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8"/>
                </a:solidFill>
                <a:latin typeface="Calibri"/>
              </a:rPr>
              <a:t>CFPB Consumer Complaint Database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6035040" cy="9144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1828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E9F8E"/>
                </a:solidFill>
                <a:latin typeface="Calibri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48840"/>
            <a:ext cx="42976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8"/>
                </a:solidFill>
                <a:latin typeface="Calibri"/>
              </a:rPr>
              <a:t>Consumer Financial Protection Bureau (consumerfinance.gov)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80360"/>
            <a:ext cx="6035040" cy="9144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1828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E9F8E"/>
                </a:solidFill>
                <a:latin typeface="Calibri"/>
              </a:rPr>
              <a:t>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926080"/>
            <a:ext cx="42976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8"/>
                </a:solidFill>
                <a:latin typeface="Calibri"/>
              </a:rPr>
              <a:t>47,053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6035040" cy="9144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1828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E9F8E"/>
                </a:solidFill>
                <a:latin typeface="Calibri"/>
              </a:rPr>
              <a:t>Columns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703320"/>
            <a:ext cx="42976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8"/>
                </a:solidFill>
                <a:latin typeface="Calibri"/>
              </a:rPr>
              <a:t>15 (16 after adding response_days)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34840"/>
            <a:ext cx="6035040" cy="9144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828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E9F8E"/>
                </a:solidFill>
                <a:latin typeface="Calibri"/>
              </a:rPr>
              <a:t>File 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480560"/>
            <a:ext cx="42976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8"/>
                </a:solidFill>
                <a:latin typeface="Calibri"/>
              </a:rPr>
              <a:t>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212080"/>
            <a:ext cx="6035040" cy="9144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257800"/>
            <a:ext cx="1828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E9F8E"/>
                </a:solidFill>
                <a:latin typeface="Calibri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257800"/>
            <a:ext cx="429768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8"/>
                </a:solidFill>
                <a:latin typeface="Calibri"/>
              </a:rPr>
              <a:t>10 products, 1,467 companies; credit card = 7,912 complaints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1280160"/>
            <a:ext cx="4526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0" y="1417320"/>
            <a:ext cx="4114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Important Columns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874519"/>
            <a:ext cx="4160520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complaint_id, product, sub_product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issue, sub_issue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company, state, zip_code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date_received, date_sent_to_company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company_response_to_consumer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submitted_via, timely_response, tags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Data Collection &amp;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FinGrievance Intelligence  |  Sivasuriyan Velmurugan  |  Anudip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42062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840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3840480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CSV downloaded from the CFPB website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Loaded with Pandas; checked shape, info(), data types, describe()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Checked duplicate rows and complaint IDs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Checked missing values (count and %)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Result: 47,053 rows, 15 columns, 0 duplicates. Most missing: tags 87.5%, company_public_response 75.4%, sub_issue 10.6%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325880"/>
            <a:ext cx="3200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Dataset 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619109"/>
            <a:ext cx="6082174" cy="24006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B26A00"/>
                </a:solidFill>
                <a:latin typeface="Calibri"/>
              </a:rPr>
              <a:t>[Fill: insert image - notebook df.info() screenshot]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20531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 dirty="0">
                <a:solidFill>
                  <a:srgbClr val="0E9F8E"/>
                </a:solidFill>
                <a:latin typeface="Calibri"/>
              </a:rPr>
              <a:t>Missing Value Analysis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C21C51-68CF-9889-79F2-507534260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977731"/>
            <a:ext cx="4243947" cy="16712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4A1183B-1E5E-A354-559F-9F9CDA266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1691640"/>
            <a:ext cx="4467849" cy="4503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Data Cleaning &amp;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FinGrievance Intelligence  |  Sivasuriyan Velmurugan  |  Anudip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Steps Performed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5120640" cy="4206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Kept an untouched raw copy; worked on clean_data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Standardized column names (lowercase, underscores)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Converted dates to datetime and zip_code to numeric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Stripped whitespace; state in uppercase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Validated complaint IDs and removed duplicates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Created response_days (date sent − date received); checked negatives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Filled missing public response, tags, state, zip_code, sub_issue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Saved the cleaned dataset to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25880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Notebook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4406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5440680" cy="4389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B26A00"/>
                </a:solidFill>
                <a:latin typeface="Calibri"/>
              </a:rPr>
              <a:t>[Fill: insert image - notebook cleaning screenshot]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EAAFAE-DAC7-83EB-1F22-1CA779DF96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43" t="-1063" r="60563" b="1063"/>
          <a:stretch>
            <a:fillRect/>
          </a:stretch>
        </p:blipFill>
        <p:spPr>
          <a:xfrm>
            <a:off x="6381946" y="1737360"/>
            <a:ext cx="4232637" cy="42290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Exploratory Data Analysis (EDA)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FinGrievance Intelligence  |  Sivasuriyan Velmurugan  |  Anudip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749039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4747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Analysis Performed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338328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Unique counts of companies, products, issues, states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Top-N complaint volume tables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Response time and timeliness by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34747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338328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Timely response: “Yes” is the most common value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400" b="0" i="0">
                <a:solidFill>
                  <a:srgbClr val="222B38"/>
                </a:solidFill>
                <a:latin typeface="Calibri"/>
              </a:rPr>
              <a:t>Prepaid card is slowest (1.98 avg days); all other products are under 1 day; median is 0 for 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325880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Timely Response by 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37360"/>
            <a:ext cx="35661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480560" y="3811887"/>
            <a:ext cx="3566160" cy="24006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 dirty="0">
                <a:solidFill>
                  <a:srgbClr val="B26A00"/>
                </a:solidFill>
                <a:latin typeface="Calibri"/>
              </a:rPr>
              <a:t>[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325880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Avg Response Time by Product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4290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B121126-7837-CF0C-0704-F6D248B13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014" y="1801368"/>
            <a:ext cx="3231676" cy="414384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8AE9B1-64D7-14DB-30CE-1D4C278B2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094" y="2554664"/>
            <a:ext cx="3011091" cy="25263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Data Visualization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FinGrievance Intelligence  |  Sivasuriyan Velmurugan  |  Anudip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6118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4290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A49"/>
                </a:solidFill>
                <a:latin typeface="Calibri"/>
              </a:rPr>
              <a:t>Top Companies by Complaint Volume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3429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3429000" cy="2468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 dirty="0">
                <a:solidFill>
                  <a:srgbClr val="B26A00"/>
                </a:solidFill>
                <a:latin typeface="Calibri"/>
              </a:rPr>
              <a:t>[Fill: insert image - Top Companies by Complaint Volume.png]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3429000" cy="1965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Purpose: Compare companies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Shows: Complaint count per company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22B38"/>
                </a:solidFill>
                <a:latin typeface="Calibri"/>
              </a:rPr>
              <a:t>Key Insight: Capital One Financial Corporation has the most complaints (1,467 companies)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36118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280160"/>
            <a:ext cx="34290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A49"/>
                </a:solidFill>
                <a:latin typeface="Calibri"/>
              </a:rPr>
              <a:t>Top Complaint Issues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737360"/>
            <a:ext cx="3429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737360"/>
            <a:ext cx="3429000" cy="2468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 dirty="0">
                <a:solidFill>
                  <a:srgbClr val="B26A00"/>
                </a:solidFill>
                <a:latin typeface="Calibri"/>
              </a:rPr>
              <a:t>[Fill: insert image - Top Complaint Issues.png]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297680"/>
            <a:ext cx="3429000" cy="1965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Purpose: Find common problems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Shows: Most frequent issues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22B38"/>
                </a:solidFill>
                <a:latin typeface="Calibri"/>
              </a:rPr>
              <a:t>Key Insight: “Attempts to collect debt not owed” is the top issue (82 issues)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34440"/>
            <a:ext cx="36118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280160"/>
            <a:ext cx="34290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A49"/>
                </a:solidFill>
                <a:latin typeface="Calibri"/>
              </a:rPr>
              <a:t>Top Complaint Sub-Issues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737360"/>
            <a:ext cx="3429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737360"/>
            <a:ext cx="3429000" cy="2468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B26A00"/>
                </a:solidFill>
                <a:latin typeface="Calibri"/>
              </a:rPr>
              <a:t>[Fill: insert image - Top Complaint Sub-Issues.png]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297680"/>
            <a:ext cx="3429000" cy="43242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 dirty="0">
                <a:solidFill>
                  <a:srgbClr val="5B6677"/>
                </a:solidFill>
                <a:latin typeface="Calibri"/>
              </a:rPr>
              <a:t>Purpose: Go deeper than issues</a:t>
            </a:r>
          </a:p>
          <a:p>
            <a:pPr algn="l">
              <a:spcAft>
                <a:spcPts val="300"/>
              </a:spcAft>
            </a:pPr>
            <a:r>
              <a:rPr sz="1100" b="0" i="0" dirty="0">
                <a:solidFill>
                  <a:srgbClr val="5B6677"/>
                </a:solidFill>
                <a:latin typeface="Calibri"/>
              </a:rPr>
              <a:t>Shows: Most frequent sub-issues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2CF1E09-5D67-D108-6F4B-E45A261A0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83" y="2206721"/>
            <a:ext cx="3420697" cy="169597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E44D655-467F-9DEF-7427-D2D3EA786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056" y="2167128"/>
            <a:ext cx="3390568" cy="196596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E269D0E-7FD6-5285-A2A8-2889B0C72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590" y="2140306"/>
            <a:ext cx="3154027" cy="18288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Data Visualization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FinGrievance Intelligence  |  Sivasuriyan Velmurugan  |  Anudip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6118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4290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A49"/>
                </a:solidFill>
                <a:latin typeface="Calibri"/>
              </a:rPr>
              <a:t>Top Financial Products by Complaint Volume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3429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3429000" cy="2468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0" i="1" dirty="0">
                <a:solidFill>
                  <a:srgbClr val="B26A00"/>
                </a:solidFill>
                <a:latin typeface="Calibri"/>
              </a:rPr>
              <a:t>[Fill: insert image - Top Financial Products by Complaint Volume.png]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3429000" cy="1965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 dirty="0">
                <a:solidFill>
                  <a:srgbClr val="5B6677"/>
                </a:solidFill>
                <a:latin typeface="Calibri"/>
              </a:rPr>
              <a:t>Purpose: Compare products</a:t>
            </a:r>
          </a:p>
          <a:p>
            <a:pPr algn="l">
              <a:spcAft>
                <a:spcPts val="300"/>
              </a:spcAft>
            </a:pPr>
            <a:r>
              <a:rPr sz="1100" b="0" i="0" dirty="0">
                <a:solidFill>
                  <a:srgbClr val="5B6677"/>
                </a:solidFill>
                <a:latin typeface="Calibri"/>
              </a:rPr>
              <a:t>Shows: Complaint count per product</a:t>
            </a:r>
          </a:p>
          <a:p>
            <a:pPr algn="l">
              <a:spcAft>
                <a:spcPts val="600"/>
              </a:spcAft>
            </a:pPr>
            <a:r>
              <a:rPr sz="1100" b="1" i="0" dirty="0">
                <a:solidFill>
                  <a:srgbClr val="222B38"/>
                </a:solidFill>
                <a:latin typeface="Calibri"/>
              </a:rPr>
              <a:t>Key Insight: Debt collection leads with 20,027 complaints (42.6%)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36118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280160"/>
            <a:ext cx="34290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A49"/>
                </a:solidFill>
                <a:latin typeface="Calibri"/>
              </a:rPr>
              <a:t>Top States by Complaint Volume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737360"/>
            <a:ext cx="3429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737360"/>
            <a:ext cx="3429000" cy="2468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B26A00"/>
                </a:solidFill>
                <a:latin typeface="Calibri"/>
              </a:rPr>
              <a:t>[Fill: insert image - Top States by Complaint Volume.png]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297680"/>
            <a:ext cx="3429000" cy="1965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Purpose: Find geographic patterns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Shows: Complaint count per state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22B38"/>
                </a:solidFill>
                <a:latin typeface="Calibri"/>
              </a:rPr>
              <a:t>Key Insight: TX (5,812), CA (5,175) and FL (4,931) are the top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34440"/>
            <a:ext cx="36118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280160"/>
            <a:ext cx="34290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A49"/>
                </a:solidFill>
                <a:latin typeface="Calibri"/>
              </a:rPr>
              <a:t>Resolution Outcomes Across Products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737360"/>
            <a:ext cx="3429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737360"/>
            <a:ext cx="3429000" cy="2468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B26A00"/>
                </a:solidFill>
                <a:latin typeface="Calibri"/>
              </a:rPr>
              <a:t>[Fill: insert image - Resolution Outcomes Across Financial Products.png]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297680"/>
            <a:ext cx="3429000" cy="1965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Purpose: Compare how complaints end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B6677"/>
                </a:solidFill>
                <a:latin typeface="Calibri"/>
              </a:rPr>
              <a:t>Shows: Company response type per product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22B38"/>
                </a:solidFill>
                <a:latin typeface="Calibri"/>
              </a:rPr>
              <a:t>Key Insight: Most common outcome: Closed with explanation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6AFFB2E-D1A3-1491-4E47-602D18F13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0" y="1801368"/>
            <a:ext cx="3406790" cy="23317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F300CC4-E4A2-94F5-C7A3-77C061584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33" y="1737360"/>
            <a:ext cx="3298814" cy="2514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1ECDCD2-F2F1-9692-3921-D5FED7A7F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19104" y="1783080"/>
            <a:ext cx="3249992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Key Insights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FinGrievance Intelligence  |  Sivasuriyan Velmurugan  |  Anudip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406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120640" cy="4206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47,053 complaints and 16 columns after cleaning; 0 duplicates, 0 missing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Top company: Capital One Financial Corporation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Top issue: Attempts to collect debt not owed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Top product: Debt collection (42.6%); top state: TX (5,812)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Most common outcome: Closed with explanation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Timely response mostly “Yes”; Prepaid card slowest at 1.98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074920" cy="4206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Review debt collection complaints first: the largest group (42.6%)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Compare relief outcomes by company, since most complaints close with explanation only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Monitor prepaid card response time and high-volume states (TX, CA, FL)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Use a file with complaint narratives to enable topic modeling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FinGrievance Intelligence  |  Sivasuriyan Velmurugan  |  Anudip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611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611880" cy="73152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What Was Achieved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3246120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Cleaned and transformed the CFPB complaint data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Built visualizations by company, issue, sub-issue, product, state and outcome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Debt collection dominates (42.6%); most complaints close with explanation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3611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280160"/>
            <a:ext cx="3611880" cy="73152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46304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How It Helps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65960"/>
            <a:ext cx="3246120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Gives a reliable base for root-cause and outcome analysis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Shows where complaints concentrate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6118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611880" cy="73152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9F8E"/>
                </a:solidFill>
                <a:latin typeface="Calibri"/>
              </a:rPr>
              <a:t>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65960"/>
            <a:ext cx="3246120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Filter to credit card complaints with narratives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Embedding-based topic modeling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Relief outcome prediction (time-based split)</a:t>
            </a:r>
          </a:p>
          <a:p>
            <a:pPr marL="285750" indent="-285750" algn="l">
              <a:spcAft>
                <a:spcPts val="600"/>
              </a:spcAft>
              <a:buClr>
                <a:srgbClr val="0E9F8E"/>
              </a:buClr>
              <a:buChar char="•"/>
            </a:pPr>
            <a:r>
              <a:rPr sz="1500" b="0" i="0">
                <a:solidFill>
                  <a:srgbClr val="222B38"/>
                </a:solidFill>
                <a:latin typeface="Calibri"/>
              </a:rPr>
              <a:t>Relief Gap Score and SHAP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1301</Words>
  <Application>Microsoft Office PowerPoint</Application>
  <PresentationFormat>Widescreen</PresentationFormat>
  <Paragraphs>197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 SURIYAN.V</cp:lastModifiedBy>
  <cp:revision>2</cp:revision>
  <dcterms:created xsi:type="dcterms:W3CDTF">2013-01-27T09:14:16Z</dcterms:created>
  <dcterms:modified xsi:type="dcterms:W3CDTF">2026-10-08T10:25:35Z</dcterms:modified>
  <cp:category/>
</cp:coreProperties>
</file>